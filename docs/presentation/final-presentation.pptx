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본문" id="{e4fa7766-6956-2229-8eb6-24da8f0bca4a}">
          <p14:sldIdLst>
            <p14:sldId id="256"/>
            <p14:sldId id="257"/>
            <p14:sldId id="258"/>
          </p14:sldIdLst>
        </p14:section>
        <p14:section name="수집과 기준선" id="{d903ab1f-d013-6e1b-9b8f-adf5764164d6}">
          <p14:sldIdLst>
            <p14:sldId id="259"/>
            <p14:sldId id="260"/>
            <p14:sldId id="261"/>
          </p14:sldIdLst>
        </p14:section>
        <p14:section name="예측 · 탐지 · 상태" id="{d5c86918-087c-4f75-693e-ddefda254f82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Jetson에서 운영" id="{845adc6d-5466-a34b-d73e-5b985b7a3f5f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기준선별 60분 CO₂ 오차 MAE (ppm)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CC785C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현재값 유지</c:v>
                  </c:pt>
                  <c:pt idx="1">
                    <c:v>최근 1시간 평균</c:v>
                  </c:pt>
                  <c:pt idx="2">
                    <c:v>어제 같은 시각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36.3</c:v>
                </c:pt>
                <c:pt idx="1">
                  <c:v>46.8</c:v>
                </c:pt>
                <c:pt idx="2">
                  <c:v>117.7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CO₂ 오차 MAE (ppm)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현재값 유지</c:v>
                </c:pt>
              </c:strCache>
            </c:strRef>
          </c:tx>
          <c:spPr>
            <a:solidFill>
              <a:srgbClr val="8E8B82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5분</c:v>
                  </c:pt>
                  <c:pt idx="1">
                    <c:v>15분</c:v>
                  </c:pt>
                  <c:pt idx="2">
                    <c:v>30분</c:v>
                  </c:pt>
                  <c:pt idx="3">
                    <c:v>60분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</c:v>
                </c:pt>
                <c:pt idx="1">
                  <c:v>12.3</c:v>
                </c:pt>
                <c:pt idx="2">
                  <c:v>22</c:v>
                </c:pt>
                <c:pt idx="3">
                  <c:v>36.3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GRU</c:v>
                </c:pt>
              </c:strCache>
            </c:strRef>
          </c:tx>
          <c:spPr>
            <a:solidFill>
              <a:srgbClr val="CC785C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5분</c:v>
                  </c:pt>
                  <c:pt idx="1">
                    <c:v>15분</c:v>
                  </c:pt>
                  <c:pt idx="2">
                    <c:v>30분</c:v>
                  </c:pt>
                  <c:pt idx="3">
                    <c:v>60분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10.9</c:v>
                </c:pt>
                <c:pt idx="2">
                  <c:v>18.7</c:v>
                </c:pt>
                <c:pt idx="3">
                  <c:v>31.3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D3D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검증 60분 CO₂ MAE (ppm)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검증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시간표 포함</c:v>
                  </c:pt>
                  <c:pt idx="1">
                    <c:v>시각·요일</c:v>
                  </c:pt>
                  <c:pt idx="2">
                    <c:v>센서만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74.6</c:v>
                </c:pt>
                <c:pt idx="1">
                  <c:v>73.7</c:v>
                </c:pt>
                <c:pt idx="2">
                  <c:v>82.6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시험 60분 CO₂ MAE (ppm)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시험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시간표 포함</c:v>
                  </c:pt>
                  <c:pt idx="1">
                    <c:v>시각·요일</c:v>
                  </c:pt>
                  <c:pt idx="2">
                    <c:v>센서만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30.3</c:v>
                </c:pt>
                <c:pt idx="1">
                  <c:v>32.2</c:v>
                </c:pt>
                <c:pt idx="2">
                  <c:v>30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GRU 1회 예측 (ms, 배치 1 평균)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PyTorch CPU</c:v>
                  </c:pt>
                  <c:pt idx="1">
                    <c:v>PyTorch GPU FP32</c:v>
                  </c:pt>
                  <c:pt idx="2">
                    <c:v>PyTorch GPU FP16</c:v>
                  </c:pt>
                  <c:pt idx="3">
                    <c:v>ONNX Runtime CPU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10.27</c:v>
                </c:pt>
                <c:pt idx="1">
                  <c:v>0.87</c:v>
                </c:pt>
                <c:pt idx="2">
                  <c:v>0.85</c:v>
                </c:pt>
                <c:pt idx="3">
                  <c:v>0.22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제출용 자료. 서비스 주소 http://100.113.228.46:8080 (Tailscale).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판정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구조와 측정 조건.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1·2.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docs/reports/001-collection-status.md, 001-collection-status-b.md, 001-failure-tests.md.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002-baselines.md, 002-diagnosis.md.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3~6.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003-forecast.md, 003-model-comparison.md.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서비스는 60분 전 예측을 실제값으로 채점하는 monitor를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004-anomaly.md, 004-detection.md.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005-state.md, 005-classification.md, 직접 관찰 docs/observations/occupancy.csv.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006-pretrained.md, 006-comparison.md.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7·8.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007-edge.md, 007-comparison.md.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008-service.md, docs/interface.md. 12시간 기록은 00:14 이후 summary로 갱신.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008-service.md 사건 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14884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6908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-넓게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011680"/>
            <a:ext cx="10890504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23360"/>
            <a:ext cx="1089050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1089050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A09D9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15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1488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교육장 공기, 매분 판단합니다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69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시계열 데이터 추론 실습 과제 1~8 결과 보고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2026-10-22 · 팀5 jaeung · Jetson Orin Nano Super (MAXN SUPER)</a:t>
            </a:r>
            <a:endParaRPr lang="en-US" sz="1400" dirty="0"/>
          </a:p>
        </p:txBody>
      </p:sp>
      <p:sp>
        <p:nvSpPr>
          <p:cNvPr id="5" name="code-window"/>
          <p:cNvSpPr/>
          <p:nvPr/>
        </p:nvSpPr>
        <p:spPr>
          <a:xfrm>
            <a:off x="6903720" y="2240280"/>
            <a:ext cx="4636008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6" name="code-window-dot"/>
          <p:cNvSpPr/>
          <p:nvPr/>
        </p:nvSpPr>
        <p:spPr>
          <a:xfrm>
            <a:off x="7104888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  <p:txBody>
          <a:bodyPr/>
          <a:p/>
        </p:txBody>
      </p:sp>
      <p:sp>
        <p:nvSpPr>
          <p:cNvPr id="7" name="code-window-dot"/>
          <p:cNvSpPr/>
          <p:nvPr/>
        </p:nvSpPr>
        <p:spPr>
          <a:xfrm>
            <a:off x="7278624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  <p:txBody>
          <a:bodyPr/>
          <a:p/>
        </p:txBody>
      </p:sp>
      <p:sp>
        <p:nvSpPr>
          <p:cNvPr id="8" name="code-window-dot"/>
          <p:cNvSpPr/>
          <p:nvPr/>
        </p:nvSpPr>
        <p:spPr>
          <a:xfrm>
            <a:off x="7452360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  <p:txBody>
          <a:bodyPr/>
          <a:p/>
        </p:txBody>
      </p:sp>
      <p:sp>
        <p:nvSpPr>
          <p:cNvPr id="9" name="code-window-label"/>
          <p:cNvSpPr txBox="1"/>
          <p:nvPr/>
        </p:nvSpPr>
        <p:spPr>
          <a:xfrm>
            <a:off x="7726680" y="233172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A09D96"/>
                </a:solidFill>
              </a:rPr>
              <a:t>보드 A 상시 서비스 응답 (주요 필드)</a:t>
            </a:r>
            <a:endParaRPr lang="en-US" sz="1100" dirty="0"/>
          </a:p>
        </p:txBody>
      </p:sp>
      <p:sp>
        <p:nvSpPr>
          <p:cNvPr id="10" name="code-window-text"/>
          <p:cNvSpPr txBox="1"/>
          <p:nvPr/>
        </p:nvSpPr>
        <p:spPr>
          <a:xfrm>
            <a:off x="7159752" y="2679192"/>
            <a:ext cx="4178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curl http://100.113.228.46:8080/health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D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"status": "ok"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"failures": 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8개 과제 중 6개 통과, 못 넘은 2개는 원인을 숫자로 설명한다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390888" y="38404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  <p:txBody>
          <a:bodyPr/>
          <a:p/>
        </p:txBody>
      </p:sp>
      <p:sp>
        <p:nvSpPr>
          <p:cNvPr id="5" name="badge-text"/>
          <p:cNvSpPr txBox="1"/>
          <p:nvPr/>
        </p:nvSpPr>
        <p:spPr>
          <a:xfrm>
            <a:off x="939088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시험 2026-09-23 ~ 10-21</a:t>
            </a:r>
            <a:endParaRPr lang="en-US" sz="12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1316435"/>
                <a:gridCol w="3590276"/>
                <a:gridCol w="4308331"/>
                <a:gridCol w="167546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과제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핵심 기준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판정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수집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재접속 1분 · 재부팅 복구 · 커버율 95%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15~18초 · 56초 · 최저 98.3%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기준선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가장 강한 기준선과 이유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현재값 유지 (60분 36.3 ppm)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예측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60분 CO₂ 30% 감소 · 온도 개선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13.8% 감소 · 온도 32.6% 감소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× 미통과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탐지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탐지율 80% · 헛경보 하루 1회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79%(새 고장) · 69% · 0회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× 미통과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상태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환기 재현율 85% · macro-F1 &gt; 규칙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88.0% · 0.626 &gt; 0.608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 사전학습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같은 시점 · 네 가지 근거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GRU 31.3 &lt; Chronos 32.4 ppm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 엣지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변환 후 차이 1 ppm · 조건 기록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ONNX 0.25 ppm · 0.22 ms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 서비스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12시간 · 정지 경보 · API · 문서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19.7시간 무중단(1182/1182) · API·문서 완료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정지 시험 남음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649224" y="5312664"/>
            <a:ext cx="10890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모델과 임계값은 검증 기간으로만 골랐고, 시험 결과를 본 뒤 다시 고르지 않았다.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맥이 배우고, 보드 A가 매분 판단한다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text"/>
          <p:cNvSpPr txBox="1"/>
          <p:nvPr/>
        </p:nvSpPr>
        <p:spPr>
          <a:xfrm>
            <a:off x="923544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맥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학습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InfluxDB 과거 1년치로 학습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예측 · 이상 · 상태 모델 3개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ONNX로 내보내 보드로 복사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55592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text"/>
          <p:cNvSpPr txBox="1"/>
          <p:nvPr/>
        </p:nvSpPr>
        <p:spPr>
          <a:xfrm>
            <a:off x="4629912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보드 A · 24시간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AF9F5"/>
                </a:solidFill>
              </a:rPr>
              <a:t>운영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수집기: MQTT → SQLite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매분: 학습과 같은 전처리 → 판단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API :8080 · MQTT · 대시보드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8061960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9" name="text"/>
          <p:cNvSpPr txBox="1"/>
          <p:nvPr/>
        </p:nvSpPr>
        <p:spPr>
          <a:xfrm>
            <a:off x="8336280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보드 B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측정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Jetson 속도 · 메모리 측정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시험용 수집기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학습 금지 (코드로 거부)</a:t>
            </a:r>
            <a:endParaRPr lang="en-US" sz="15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4096512"/>
          <a:ext cx="10890504" cy="914400"/>
        </p:xfrm>
        <a:graphic>
          <a:graphicData uri="http://schemas.openxmlformats.org/drawingml/2006/table">
            <a:tbl>
              <a:tblPr/>
              <a:tblGrid>
                <a:gridCol w="2440975"/>
                <a:gridCol w="844952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측정 조건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데이터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실데이터 (교육장 InfluxDB · MQTT), 합성 아님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기간 분할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학습 2025-09-03 ~ 2026-08-26 · 검증 ~ 09-23 · 시험 ~ 10-21 (시간 순서)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정규화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학습 기간 값만으로 계산, 맥 · 보드가 같은 전처리 코드 사용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보드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Jetson Orin Nano Super 8GB, JetPack 7.2.1, 전력 모드 MAXN SUPER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수집과 기준선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과제 1 · 2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1 · COLLECTION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두 보드 모두 24시간 커버율 95%를 넘었다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208008" y="38404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  <p:txBody>
          <a:bodyPr/>
          <a:p/>
        </p:txBody>
      </p:sp>
      <p:sp>
        <p:nvSpPr>
          <p:cNvPr id="5" name="badge-text"/>
          <p:cNvSpPr txBox="1"/>
          <p:nvPr/>
        </p:nvSpPr>
        <p:spPr>
          <a:xfrm>
            <a:off x="9208008" y="3840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10-21 14:30 ~ 10-22 14:35</a:t>
            </a:r>
            <a:endParaRPr lang="en-US" sz="1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5330952" cy="914400"/>
        </p:xfrm>
        <a:graphic>
          <a:graphicData uri="http://schemas.openxmlformats.org/drawingml/2006/table">
            <a:tbl>
              <a:tblPr/>
              <a:tblGrid>
                <a:gridCol w="1895450"/>
                <a:gridCol w="1540053"/>
                <a:gridCol w="189545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보드 A (운영)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보드 B (실험)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 항목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 / 30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 / 30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최저 커버율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98.3%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97.5%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결측 구간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재접속 시험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 · 18 · 18초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재부팅 후 재수집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56초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6208776" y="1581912"/>
            <a:ext cx="53309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보드 B의 결측 18개는 모두 학습 부하로 보드가 멈춘 두 번(각 4~6분)에서 나왔다. 두 번 다 수집기가 사람 손 없이 다시 켜졌다.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그래서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보드 학습 금지(코드로 거부), 무거운 작업은 메모리 2GB 상한. 운영 판정은 장애가 없던 보드 A로 한다.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더 본 것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게이트웨이 시계가 약 5분 빨라 메시지의 46%가 60초 넘게 어긋남 → 기준 시각은 네트워크 서버 시각. 사무실 CO₂ 센서 배터리 1%.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2 · BASELINE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가장 강한 기준선은 '지금 값 그대로'였다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829800" y="384048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  <p:txBody>
          <a:bodyPr/>
          <a:p/>
        </p:txBody>
      </p:sp>
      <p:sp>
        <p:nvSpPr>
          <p:cNvPr id="5" name="badge-text"/>
          <p:cNvSpPr txBox="1"/>
          <p:nvPr/>
        </p:nvSpPr>
        <p:spPr>
          <a:xfrm>
            <a:off x="9829800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시험 기간 60분 CO₂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6397142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"/>
          <p:cNvSpPr txBox="1"/>
          <p:nvPr/>
        </p:nvSpPr>
        <p:spPr>
          <a:xfrm>
            <a:off x="7274966" y="1581912"/>
            <a:ext cx="426476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CO₂는 천천히 변하고, 큰 변화는 하루 몇 번(수업 시작 · 점심 · 퇴실)뿐이다.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'어제 같은 시각'은 요일 · 공휴일 · 수업 유무가 날마다 달라 가장 나쁘다.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그래서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이후 모든 모델은 현재값 유지와 같은 평가 시점(20,065개)에서 비교한다.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예측 · 탐지 · 상태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과제 3 · 4 · 5 · 6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3 · FORECAST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모든 시점에서 이겼지만, 60분 30% 감소는 못 넘었다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756648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  <p:txBody>
          <a:bodyPr/>
          <a:p/>
        </p:txBody>
      </p:sp>
      <p:sp>
        <p:nvSpPr>
          <p:cNvPr id="5" name="badge-text"/>
          <p:cNvSpPr txBox="1"/>
          <p:nvPr/>
        </p:nvSpPr>
        <p:spPr>
          <a:xfrm>
            <a:off x="9756648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GRU · 검증으로 선택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639714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"/>
          <p:cNvSpPr txBox="1"/>
          <p:nvPr/>
        </p:nvSpPr>
        <p:spPr>
          <a:xfrm>
            <a:off x="7274966" y="1581912"/>
            <a:ext cx="42647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· 시험 기간에 추석 · 공휴일 → 기준선 오차가 검증 110에서 시험 36 ppm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· 수업 시작은 센서에 미리 안 보인다 (이때 기준선보다 48% 나쁨)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· 회의실은 일정표가 없다 (큰 오차 상위 50개 중 39개)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그래서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여러 기간으로 교차 검증, 문 열림 · 냉난방 · 회의 예약 정보 추가. 온도는 32.6% 감소로 통과.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MOST SURPRISING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검증에서 꼴찌였던 모델이 시험에서 1등이었다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9363456" y="384048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  <p:txBody>
          <a:bodyPr/>
          <a:p/>
        </p:txBody>
      </p:sp>
      <p:sp>
        <p:nvSpPr>
          <p:cNvPr id="5" name="badge-text"/>
          <p:cNvSpPr txBox="1"/>
          <p:nvPr/>
        </p:nvSpPr>
        <p:spPr>
          <a:xfrm>
            <a:off x="9363456" y="3840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GRU 변형별 씨앗 3개 평균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533095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" descr=""/>
          <p:cNvGraphicFramePr/>
          <p:nvPr/>
        </p:nvGraphicFramePr>
        <p:xfrm>
          <a:off x="6208776" y="1581912"/>
          <a:ext cx="533095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"/>
          <p:cNvSpPr txBox="1"/>
          <p:nvPr/>
        </p:nvSpPr>
        <p:spPr>
          <a:xfrm>
            <a:off x="649224" y="4919472"/>
            <a:ext cx="10890504" cy="68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검증 기간(개강 직후)이 시험 기간(연휴)보다 3배 더 출렁였다. 규칙대로 검증으로만 골라 1등을 놓쳤다.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교훈: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기간 하나로 고르면 운에 맡기는 것. 여러 기간으로 검증하고, 운영 중에 스스로 채점한다.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4 · ANOMALY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튀는 값은 다 잡고, 정상 범위에서 멈춘 값은 못 잡는다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10158984" y="384048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  <p:txBody>
          <a:bodyPr/>
          <a:p/>
        </p:txBody>
      </p:sp>
      <p:sp>
        <p:nvSpPr>
          <p:cNvPr id="5" name="badge-text"/>
          <p:cNvSpPr txBox="1"/>
          <p:nvPr/>
        </p:nvSpPr>
        <p:spPr>
          <a:xfrm>
            <a:off x="10158984" y="384048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합성 고장 35건</a:t>
            </a:r>
            <a:endParaRPr lang="en-US" sz="1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6397142" cy="914400"/>
        </p:xfrm>
        <a:graphic>
          <a:graphicData uri="http://schemas.openxmlformats.org/drawingml/2006/table">
            <a:tbl>
              <a:tblPr/>
              <a:tblGrid>
                <a:gridCol w="2426502"/>
                <a:gridCol w="1102956"/>
                <a:gridCol w="286768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고장 종류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잡음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이유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튄 값 · 냉방 정지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처음 보는 모양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영점 틀어짐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6/8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천천히 변해 늦게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습도 값 고정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× 0/6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정상도 몇 시간 멈춤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환기 정지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× 0/3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사람 많은 수업과 같음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7274966" y="1581912"/>
            <a:ext cx="426476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결과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탐지율 69% (기준 80%) · 헛경보 하루 0회 (기준 1회)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그래서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값만으로는 구별 불가. 같은 공간 옆 센서와 비교, 냉난방 장비(xflow) 데이터를 넣는다.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임계값은 검증 기간으로 고정. 시험에서 80%가 되는 값은 검증 헛경보가 하루 2.29회라 고를 수 없다.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5 · STATE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환기 경보는 88%로 통과, 사용 여부는 빈 방 오판 0%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533095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text"/>
          <p:cNvSpPr txBox="1"/>
          <p:nvPr/>
        </p:nvSpPr>
        <p:spPr>
          <a:xfrm>
            <a:off x="923544" y="1810512"/>
            <a:ext cx="4782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환기 선제 경보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88.0%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30분 안 1,000 ppm을 미리 잡은 비율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macro-F1 0.626 &gt; 규칙 0.608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08776" y="1581912"/>
            <a:ext cx="533095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7" name="text"/>
          <p:cNvSpPr txBox="1"/>
          <p:nvPr/>
        </p:nvSpPr>
        <p:spPr>
          <a:xfrm>
            <a:off x="6483096" y="1810512"/>
            <a:ext cx="4782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사용 여부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0%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빈 방을 '사용중'으로 본 비율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대신 사용중 1,147칸을 놓침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649224" y="4005072"/>
            <a:ext cx="10890504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환기 경보 정밀도 16.5% → 같은 경보를 30분에 한 번만 보낸다. 회의실 재현율은 77.9%(회의가 쉬었다 다시 시작).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사용 여부 임계값(0.95)이 검증 기간에 맞춰져 매우 보수적이다. CO₂는 사람의 출입보다 늦게 따라온다.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그래서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'빈 방 오판 2% 이하에서 재현율 최대'로 임계값 기준을 바꾸고, 문 열림 · 소음 센서로 정답을 보강한다.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6 · PRETRAINED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Chronos는 학습 없이 기준선을 이기지만, 매분 쓰기엔 무겁다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8403336" y="384048"/>
            <a:ext cx="3136392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  <p:txBody>
          <a:bodyPr/>
          <a:p/>
        </p:txBody>
      </p:sp>
      <p:sp>
        <p:nvSpPr>
          <p:cNvPr id="5" name="badge-text"/>
          <p:cNvSpPr txBox="1"/>
          <p:nvPr/>
        </p:nvSpPr>
        <p:spPr>
          <a:xfrm>
            <a:off x="8403336" y="384048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정확도: 맥 · 시간/메모리: 보드 B CPU</a:t>
            </a:r>
            <a:endParaRPr lang="en-US" sz="1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3152514"/>
                <a:gridCol w="1719553"/>
                <a:gridCol w="1862849"/>
                <a:gridCol w="1862849"/>
                <a:gridCol w="229273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60분 MAE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구간 적중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1회 추론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메모리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현재값 유지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36.3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Chronos-Bolt tiny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33.3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78%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39 ms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+213 MB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Chronos-Bolt small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32.4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77%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139 ms (p95 299)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약 +237 MB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직접 학습 GRU (ONNX)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31.3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0.22 ms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수백 KB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649224" y="3776472"/>
            <a:ext cx="1089050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채택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매분 예측은 GRU 유지 — 더 정확하고 600배 빠르며, 로컬 LLM과 나눠 쓸 메모리를 아낀다.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Chronos는 학습 데이터가 없는 새 공간의 첫 모델, 불확실성 구간(적중률 75~84%), 두 번째 의견으로 쓴다.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Jetson에서 운영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과제 7 · 8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7 ·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가장 빠른 것은 GPU가 아니라 ONNX CPU였다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7516368" y="384048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  <p:txBody>
          <a:bodyPr/>
          <a:p/>
        </p:txBody>
      </p:sp>
      <p:sp>
        <p:nvSpPr>
          <p:cNvPr id="5" name="badge-text"/>
          <p:cNvSpPr txBox="1"/>
          <p:nvPr/>
        </p:nvSpPr>
        <p:spPr>
          <a:xfrm>
            <a:off x="7516368" y="3840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보드 B · 워밍업 20 · 측정 200 · 클럭 고정 안 함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6397142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4966" y="1581912"/>
          <a:ext cx="4264762" cy="914400"/>
        </p:xfrm>
        <a:graphic>
          <a:graphicData uri="http://schemas.openxmlformats.org/drawingml/2006/table">
            <a:tbl>
              <a:tblPr/>
              <a:tblGrid>
                <a:gridCol w="2284694"/>
                <a:gridCol w="19800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방식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CO₂ 최대 차이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GPU FP32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0.01 ppm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GPU FP16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× 1.02 ppm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ONNX CPU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0.25 ppm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경보 바뀜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0% (전 방식)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"/>
          <p:cNvSpPr txBox="1"/>
          <p:nvPr/>
        </p:nvSpPr>
        <p:spPr>
          <a:xfrm>
            <a:off x="649224" y="5285232"/>
            <a:ext cx="10890504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모델이 6만 파라미터로 작아 GPU로 보내는 준비 시간이 계산보다 길다. FP16은 득 없이 오차만 커졌다. TensorRT는 보드에 미설치(sudo 필요).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결론: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운영은 ONNX CPU, GPU는 다음 주 로컬 LLM에 비워 둔다.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TASK 8 · SERVICE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보드 A가 매분 네 공간을 판단해 API와 MQTT로 내보낸다</a:t>
            </a:r>
            <a:endParaRPr lang="en-US" sz="3200" dirty="0"/>
          </a:p>
        </p:txBody>
      </p:sp>
      <p:sp>
        <p:nvSpPr>
          <p:cNvPr id="4" name="code-window"/>
          <p:cNvSpPr/>
          <p:nvPr/>
        </p:nvSpPr>
        <p:spPr>
          <a:xfrm>
            <a:off x="649224" y="1581912"/>
            <a:ext cx="6397142" cy="2382520"/>
          </a:xfrm>
          <a:prstGeom prst="roundRect">
            <a:avLst>
              <a:gd name="adj" fmla="val 460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5" name="code-window-dot"/>
          <p:cNvSpPr/>
          <p:nvPr/>
        </p:nvSpPr>
        <p:spPr>
          <a:xfrm>
            <a:off x="850392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  <p:txBody>
          <a:bodyPr/>
          <a:p/>
        </p:txBody>
      </p:sp>
      <p:sp>
        <p:nvSpPr>
          <p:cNvPr id="6" name="code-window-dot"/>
          <p:cNvSpPr/>
          <p:nvPr/>
        </p:nvSpPr>
        <p:spPr>
          <a:xfrm>
            <a:off x="1024128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  <p:txBody>
          <a:bodyPr/>
          <a:p/>
        </p:txBody>
      </p:sp>
      <p:sp>
        <p:nvSpPr>
          <p:cNvPr id="7" name="code-window-dot"/>
          <p:cNvSpPr/>
          <p:nvPr/>
        </p:nvSpPr>
        <p:spPr>
          <a:xfrm>
            <a:off x="1197864" y="1728216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  <p:txBody>
          <a:bodyPr/>
          <a:p/>
        </p:txBody>
      </p:sp>
      <p:sp>
        <p:nvSpPr>
          <p:cNvPr id="8" name="code-window-label"/>
          <p:cNvSpPr txBox="1"/>
          <p:nvPr/>
        </p:nvSpPr>
        <p:spPr>
          <a:xfrm>
            <a:off x="1472184" y="1673352"/>
            <a:ext cx="5391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A09D96"/>
                </a:solidFill>
              </a:rPr>
              <a:t>조회 API (보드 A :8080) · 형식은 docs/interface.md</a:t>
            </a:r>
            <a:endParaRPr lang="en-US" sz="1100" dirty="0"/>
          </a:p>
        </p:txBody>
      </p:sp>
      <p:sp>
        <p:nvSpPr>
          <p:cNvPr id="9" name="code-window-text"/>
          <p:cNvSpPr txBox="1"/>
          <p:nvPr/>
        </p:nvSpPr>
        <p:spPr>
          <a:xfrm>
            <a:off x="905256" y="2020824"/>
            <a:ext cx="5939942" cy="183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/health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/v1/spaces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/v1/spaces/&lt;slug&gt;/forecast?minutes=60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/v1/spaces/&lt;slug&gt;/anomaly | /state | /alerts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/v1/alerts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MQTT aip/team5/jaeung/inference/&lt;slug&gt;/state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(retained) · alerts · status(LWT)</a:t>
            </a:r>
            <a:endParaRPr lang="en-US" sz="13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4966" y="1581912"/>
          <a:ext cx="4264762" cy="914400"/>
        </p:xfrm>
        <a:graphic>
          <a:graphicData uri="http://schemas.openxmlformats.org/drawingml/2006/table">
            <a:tbl>
              <a:tblPr/>
              <a:tblGrid>
                <a:gridCol w="2132381"/>
                <a:gridCol w="21323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확인 기준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12시간 무중단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 (19.7시간, 실패 0)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10분 정지 경보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시험 예정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조회 API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결과 형식 문서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"/>
          <p:cNvSpPr txBox="1"/>
          <p:nvPr/>
        </p:nvSpPr>
        <p:spPr>
          <a:xfrm>
            <a:off x="649224" y="4193032"/>
            <a:ext cx="10890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매분: 수집 DB → 학습과 같은 전처리 → ONNX 예측 · 이상 점수 · 상태 판단 → 경보. 모델 파일을 바꾸면 서비스를 멈추지 않고 교체된다.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운영을 시작하자 실제 데이터에서만 보이는 문제가 나왔다</a:t>
            </a:r>
            <a:endParaRPr lang="en-US" sz="32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1342665"/>
                <a:gridCol w="4773920"/>
                <a:gridCol w="4773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시각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무슨 일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고친 방법</a:t>
                      </a:r>
                      <a:endParaRPr lang="en-US" sz="12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09:01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켜자마자 꺼짐 (보드 A에 torch 없음)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torch 없이 도는지 자동 시험 추가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09:49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문 열림 센서를 '끊김'으로 오판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CO₂ · 온도 · 습도 센서만 판정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10:5x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최종 모델로 교체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파일만 바꾸면 무중단 교체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12:14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10분 정지에 경보가 안 나는 기준(15분)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5분 안 '수집 끊김' 경보로 고치고 재시작</a:t>
                      </a:r>
                      <a:endParaRPr lang="en-US" sz="15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649224" y="3776472"/>
            <a:ext cx="10890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문 열림 센서는 문이 움직일 때만 신호를 보내서, 1분 센서와 같은 기준으로 보면 끊긴 것처럼 보였다. 서비스는 60분 전 예측을 실제값으로 스스로 채점한다.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정리와 다음 할 일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649224" y="1581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수집</a:t>
            </a:r>
            <a:endParaRPr lang="en-US" sz="2000" dirty="0"/>
          </a:p>
        </p:txBody>
      </p:sp>
      <p:sp>
        <p:nvSpPr>
          <p:cNvPr id="4" name="text"/>
          <p:cNvSpPr txBox="1"/>
          <p:nvPr/>
        </p:nvSpPr>
        <p:spPr>
          <a:xfrm>
            <a:off x="2935224" y="1581912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두 보드 모두 커버율 95% 이상, 결측 원인 전부 설명</a:t>
            </a:r>
            <a:endParaRPr lang="en-US" sz="2000" dirty="0"/>
          </a:p>
        </p:txBody>
      </p:sp>
      <p:sp>
        <p:nvSpPr>
          <p:cNvPr id="5" name="text"/>
          <p:cNvSpPr txBox="1"/>
          <p:nvPr/>
        </p:nvSpPr>
        <p:spPr>
          <a:xfrm>
            <a:off x="649224" y="2203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예측</a:t>
            </a:r>
            <a:endParaRPr lang="en-US" sz="2000" dirty="0"/>
          </a:p>
        </p:txBody>
      </p:sp>
      <p:sp>
        <p:nvSpPr>
          <p:cNvPr id="6" name="text"/>
          <p:cNvSpPr txBox="1"/>
          <p:nvPr/>
        </p:nvSpPr>
        <p:spPr>
          <a:xfrm>
            <a:off x="2935224" y="2203704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기준선보다 14%, 목표 30% 미달 → 센서 밖 정보</a:t>
            </a:r>
            <a:endParaRPr lang="en-US" sz="2000" dirty="0"/>
          </a:p>
        </p:txBody>
      </p:sp>
      <p:sp>
        <p:nvSpPr>
          <p:cNvPr id="7" name="text"/>
          <p:cNvSpPr txBox="1"/>
          <p:nvPr/>
        </p:nvSpPr>
        <p:spPr>
          <a:xfrm>
            <a:off x="649224" y="2825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의외</a:t>
            </a:r>
            <a:endParaRPr lang="en-US" sz="2000" dirty="0"/>
          </a:p>
        </p:txBody>
      </p:sp>
      <p:sp>
        <p:nvSpPr>
          <p:cNvPr id="8" name="text"/>
          <p:cNvSpPr txBox="1"/>
          <p:nvPr/>
        </p:nvSpPr>
        <p:spPr>
          <a:xfrm>
            <a:off x="2935224" y="2825496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검증 꼴찌가 시험 1등 → 여러 기간 검증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649224" y="34472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탐지</a:t>
            </a:r>
            <a:endParaRPr lang="en-US" sz="2000" dirty="0"/>
          </a:p>
        </p:txBody>
      </p:sp>
      <p:sp>
        <p:nvSpPr>
          <p:cNvPr id="10" name="text"/>
          <p:cNvSpPr txBox="1"/>
          <p:nvPr/>
        </p:nvSpPr>
        <p:spPr>
          <a:xfrm>
            <a:off x="2935224" y="3447288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멈춘 값은 옆 센서 비교로</a:t>
            </a:r>
            <a:endParaRPr lang="en-US" sz="2000" dirty="0"/>
          </a:p>
        </p:txBody>
      </p:sp>
      <p:sp>
        <p:nvSpPr>
          <p:cNvPr id="11" name="text"/>
          <p:cNvSpPr txBox="1"/>
          <p:nvPr/>
        </p:nvSpPr>
        <p:spPr>
          <a:xfrm>
            <a:off x="649224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엣지</a:t>
            </a:r>
            <a:endParaRPr lang="en-US" sz="2000" dirty="0"/>
          </a:p>
        </p:txBody>
      </p:sp>
      <p:sp>
        <p:nvSpPr>
          <p:cNvPr id="12" name="text"/>
          <p:cNvSpPr txBox="1"/>
          <p:nvPr/>
        </p:nvSpPr>
        <p:spPr>
          <a:xfrm>
            <a:off x="2935224" y="4069080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ONNX CPU 0.22 ms, GPU보다 빠름</a:t>
            </a:r>
            <a:endParaRPr lang="en-US" sz="2000" dirty="0"/>
          </a:p>
        </p:txBody>
      </p:sp>
      <p:sp>
        <p:nvSpPr>
          <p:cNvPr id="13" name="text"/>
          <p:cNvSpPr txBox="1"/>
          <p:nvPr/>
        </p:nvSpPr>
        <p:spPr>
          <a:xfrm>
            <a:off x="649224" y="4690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운영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2935224" y="4690872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보드 A 매분 판단, API · MQTT · 대시보드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m Coral">
  <a:themeElements>
    <a:clrScheme name="Cream Coral">
      <a:dk1>
        <a:srgbClr val="141413"/>
      </a:dk1>
      <a:lt1>
        <a:srgbClr val="FAF9F5"/>
      </a:lt1>
      <a:dk2>
        <a:srgbClr val="181715"/>
      </a:dk2>
      <a:lt2>
        <a:srgbClr val="EFE9DE"/>
      </a:lt2>
      <a:accent1>
        <a:srgbClr val="CC785C"/>
      </a:accent1>
      <a:accent2>
        <a:srgbClr val="A9583E"/>
      </a:accent2>
      <a:accent3>
        <a:srgbClr val="6C6A64"/>
      </a:accent3>
      <a:accent4>
        <a:srgbClr val="E8A55A"/>
      </a:accent4>
      <a:accent5>
        <a:srgbClr val="5DB8A6"/>
      </a:accent5>
      <a:accent6>
        <a:srgbClr val="C64545"/>
      </a:accent6>
      <a:hlink>
        <a:srgbClr val="A9583E"/>
      </a:hlink>
      <a:folHlink>
        <a:srgbClr val="6C6A64"/>
      </a:folHlink>
    </a:clrScheme>
    <a:fontScheme name="Cream Coral">
      <a:majorFont>
        <a:latin typeface="Pretendard"/>
        <a:ea typeface="Pretendard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SemiBold"/>
        <a:ea typeface="Pretendard SemiBold"/>
        <a:cs typeface=""/>
        <a:font script="Jpan" typeface="游ゴシック"/>
        <a:font script="Hang" typeface="Pretendard SemiBol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교육장 공기 상태 추론 서비스 — 과제 1~8 결과</dc:title>
  <dc:subject>PptxGenJS Presentation</dc:subject>
  <dc:creator>jaeung (팀5)</dc:creator>
  <cp:lastModifiedBy>jaeung (팀5)</cp:lastModifiedBy>
  <cp:revision>1</cp:revision>
  <dcterms:created xsi:type="dcterms:W3CDTF">2026-10-22T06:17:02Z</dcterms:created>
  <dcterms:modified xsi:type="dcterms:W3CDTF">2026-10-22T06:17:02Z</dcterms:modified>
</cp:coreProperties>
</file>