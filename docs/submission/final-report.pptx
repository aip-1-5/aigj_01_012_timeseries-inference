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본문" id="{af47801c-eaac-b235-bd94-538ebf1a1058}">
          <p14:sldIdLst>
            <p14:sldId id="256"/>
            <p14:sldId id="257"/>
            <p14:sldId id="258"/>
            <p14:sldId id="259"/>
            <p14:sldId id="260"/>
          </p14:sldIdLst>
        </p14:section>
        <p14:section name="수집과 기준선" id="{f1c304a2-57a4-161b-1506-8fe576f88348}">
          <p14:sldIdLst>
            <p14:sldId id="261"/>
            <p14:sldId id="262"/>
            <p14:sldId id="263"/>
            <p14:sldId id="264"/>
          </p14:sldIdLst>
        </p14:section>
        <p14:section name="예측 · 탐지 · 상태" id="{e36fdcec-aff3-b521-d539-4152cc7374cd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Jetson에서 운영" id="{72ef8d3f-c3c5-5363-8c48-7d0fdfef624f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발견과 다음 할 일" id="{cf29ef64-dd8f-e82e-bad3-3ae6856aafad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예비 (질문이 나오면)" id="{2d5b1ca5-cb25-cda9-27d1-21fcddeb1a5f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공간별 최저 커버율 (%) · 센서 간격 기준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보드 A (운영)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사무실</c:v>
                  </c:pt>
                  <c:pt idx="1">
                    <c:v>사무실 밖</c:v>
                  </c:pt>
                  <c:pt idx="2">
                    <c:v>실습실</c:v>
                  </c:pt>
                  <c:pt idx="3">
                    <c:v>회의실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99.8</c:v>
                </c:pt>
                <c:pt idx="1">
                  <c:v>100</c:v>
                </c:pt>
                <c:pt idx="2">
                  <c:v>98.3</c:v>
                </c:pt>
                <c:pt idx="3">
                  <c:v>99.3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보드 B (실험)</c:v>
                </c:pt>
              </c:strCache>
            </c:strRef>
          </c:tx>
          <c:spPr>
            <a:solidFill>
              <a:srgbClr val="8E8B82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사무실</c:v>
                  </c:pt>
                  <c:pt idx="1">
                    <c:v>사무실 밖</c:v>
                  </c:pt>
                  <c:pt idx="2">
                    <c:v>실습실</c:v>
                  </c:pt>
                  <c:pt idx="3">
                    <c:v>회의실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</c:v>
                </c:pt>
                <c:pt idx="1">
                  <c:v>99.4</c:v>
                </c:pt>
                <c:pt idx="2">
                  <c:v>97.5</c:v>
                </c:pt>
                <c:pt idx="3">
                  <c:v>99.3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3D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기준선별 60분 CO₂ 오차 MAE (ppm)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현재값 유지</c:v>
                  </c:pt>
                  <c:pt idx="1">
                    <c:v>최근 1시간 평균</c:v>
                  </c:pt>
                  <c:pt idx="2">
                    <c:v>어제 같은 시각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36.3</c:v>
                </c:pt>
                <c:pt idx="1">
                  <c:v>46.8</c:v>
                </c:pt>
                <c:pt idx="2">
                  <c:v>117.7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시험 기간 CO₂ 오차 MAE (ppm)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현재값 유지</c:v>
                </c:pt>
              </c:strCache>
            </c:strRef>
          </c:tx>
          <c:spPr>
            <a:solidFill>
              <a:srgbClr val="8E8B82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5분</c:v>
                  </c:pt>
                  <c:pt idx="1">
                    <c:v>15분</c:v>
                  </c:pt>
                  <c:pt idx="2">
                    <c:v>30분</c:v>
                  </c:pt>
                  <c:pt idx="3">
                    <c:v>60분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</c:v>
                </c:pt>
                <c:pt idx="1">
                  <c:v>12.3</c:v>
                </c:pt>
                <c:pt idx="2">
                  <c:v>22</c:v>
                </c:pt>
                <c:pt idx="3">
                  <c:v>36.3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5분</c:v>
                  </c:pt>
                  <c:pt idx="1">
                    <c:v>15분</c:v>
                  </c:pt>
                  <c:pt idx="2">
                    <c:v>30분</c:v>
                  </c:pt>
                  <c:pt idx="3">
                    <c:v>60분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10.9</c:v>
                </c:pt>
                <c:pt idx="2">
                  <c:v>18.7</c:v>
                </c:pt>
                <c:pt idx="3">
                  <c:v>31.3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3D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60분 CO₂ 오차, 기준선 대비 변화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검증 기간 전체</c:v>
                  </c:pt>
                  <c:pt idx="1">
                    <c:v>시험 · 사무실</c:v>
                  </c:pt>
                  <c:pt idx="2">
                    <c:v>시험 · 회의실</c:v>
                  </c:pt>
                  <c:pt idx="3">
                    <c:v>시험 · 실습실</c:v>
                  </c:pt>
                  <c:pt idx="4">
                    <c:v>시험 · 주말·공휴일</c:v>
                  </c:pt>
                  <c:pt idx="5">
                    <c:v>시험 · 수업 시작 직후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-33</c:v>
                </c:pt>
                <c:pt idx="1">
                  <c:v>-23</c:v>
                </c:pt>
                <c:pt idx="2">
                  <c:v>-19</c:v>
                </c:pt>
                <c:pt idx="3">
                  <c:v>5</c:v>
                </c:pt>
                <c:pt idx="4">
                  <c:v>25</c:v>
                </c:pt>
                <c:pt idx="5">
                  <c:v>48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고장 종류별 잡음 / 놓침 (건) · 1차, 씨앗 22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잡음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튄 값 · 냉방 정지</c:v>
                  </c:pt>
                  <c:pt idx="1">
                    <c:v>영점 틀어짐</c:v>
                  </c:pt>
                  <c:pt idx="2">
                    <c:v>습도 값 고정</c:v>
                  </c:pt>
                  <c:pt idx="3">
                    <c:v>환기 정지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놓침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튄 값 · 냉방 정지</c:v>
                  </c:pt>
                  <c:pt idx="1">
                    <c:v>영점 틀어짐</c:v>
                  </c:pt>
                  <c:pt idx="2">
                    <c:v>습도 값 고정</c:v>
                  </c:pt>
                  <c:pt idx="3">
                    <c:v>환기 정지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3D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60분 CO₂ MAE (ppm)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현재값 유지</c:v>
                  </c:pt>
                  <c:pt idx="1">
                    <c:v>Chronos tiny</c:v>
                  </c:pt>
                  <c:pt idx="2">
                    <c:v>Chronos small</c:v>
                  </c:pt>
                  <c:pt idx="3">
                    <c:v>직접 학습 GRU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36.3</c:v>
                </c:pt>
                <c:pt idx="1">
                  <c:v>33.3</c:v>
                </c:pt>
                <c:pt idx="2">
                  <c:v>32.4</c:v>
                </c:pt>
                <c:pt idx="3">
                  <c:v>31.3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GRU 1회 예측 (ms, 배치 1 평균)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PyTorch CPU</c:v>
                  </c:pt>
                  <c:pt idx="1">
                    <c:v>PyTorch GPU FP32</c:v>
                  </c:pt>
                  <c:pt idx="2">
                    <c:v>PyTorch GPU FP16</c:v>
                  </c:pt>
                  <c:pt idx="3">
                    <c:v>ONNX Runtime CPU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10.27</c:v>
                </c:pt>
                <c:pt idx="1">
                  <c:v>0.87</c:v>
                </c:pt>
                <c:pt idx="2">
                  <c:v>0.85</c:v>
                </c:pt>
                <c:pt idx="3">
                  <c:v>0.22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경보 뒤 창 안 최대 CO₂ (ppm) · 1,000에 닿으면 맞음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환기 경보(분류기)</c:v>
                </c:pt>
              </c:strCache>
            </c:strRef>
          </c:tx>
          <c:spPr>
            <a:solidFill>
              <a:srgbClr val="8E8B82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회의실 환기 12:14</c:v>
                  </c:pt>
                  <c:pt idx="1">
                    <c:v>실습실 환기 13:05</c:v>
                  </c:pt>
                  <c:pt idx="2">
                    <c:v>사무실 환기 14:20</c:v>
                  </c:pt>
                  <c:pt idx="3">
                    <c:v>실습실 환기 15:20</c:v>
                  </c:pt>
                  <c:pt idx="4">
                    <c:v>실습실 환기 16:45</c:v>
                  </c:pt>
                  <c:pt idx="5">
                    <c:v>회의실 예측 12:50</c:v>
                  </c:pt>
                  <c:pt idx="6">
                    <c:v>사무실 예측 14:20</c:v>
                  </c:pt>
                  <c:pt idx="7">
                    <c:v>사무실 예측 16:10</c:v>
                  </c:pt>
                  <c:pt idx="8">
                    <c:v>사무실 예측 17:35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908</c:v>
                </c:pt>
                <c:pt idx="1">
                  <c:v>826</c:v>
                </c:pt>
                <c:pt idx="2">
                  <c:v>1000</c:v>
                </c:pt>
                <c:pt idx="3">
                  <c:v>877</c:v>
                </c:pt>
                <c:pt idx="4">
                  <c:v>910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1,000 ppm 초과 예측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회의실 환기 12:14</c:v>
                  </c:pt>
                  <c:pt idx="1">
                    <c:v>실습실 환기 13:05</c:v>
                  </c:pt>
                  <c:pt idx="2">
                    <c:v>사무실 환기 14:20</c:v>
                  </c:pt>
                  <c:pt idx="3">
                    <c:v>실습실 환기 15:20</c:v>
                  </c:pt>
                  <c:pt idx="4">
                    <c:v>실습실 환기 16:45</c:v>
                  </c:pt>
                  <c:pt idx="5">
                    <c:v>회의실 예측 12:50</c:v>
                  </c:pt>
                  <c:pt idx="6">
                    <c:v>사무실 예측 14:20</c:v>
                  </c:pt>
                  <c:pt idx="7">
                    <c:v>사무실 예측 16:10</c:v>
                  </c:pt>
                  <c:pt idx="8">
                    <c:v>사무실 예측 17:35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1061</c:v>
                </c:pt>
                <c:pt idx="6">
                  <c:v>1000</c:v>
                </c:pt>
                <c:pt idx="7">
                  <c:v>1066</c:v>
                </c:pt>
                <c:pt idx="8">
                  <c:v>1006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700"/>
        </c:scaling>
        <c:delete val="0"/>
        <c:axPos val="l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3D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검증 60분 CO₂ MAE (ppm)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검증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시간표 포함</c:v>
                  </c:pt>
                  <c:pt idx="1">
                    <c:v>시각·요일</c:v>
                  </c:pt>
                  <c:pt idx="2">
                    <c:v>센서만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74.6</c:v>
                </c:pt>
                <c:pt idx="1">
                  <c:v>73.7</c:v>
                </c:pt>
                <c:pt idx="2">
                  <c:v>82.6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시험 60분 CO₂ MAE (ppm)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시험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시간표 포함</c:v>
                  </c:pt>
                  <c:pt idx="1">
                    <c:v>시각·요일</c:v>
                  </c:pt>
                  <c:pt idx="2">
                    <c:v>센서만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30.3</c:v>
                </c:pt>
                <c:pt idx="1">
                  <c:v>32.2</c:v>
                </c:pt>
                <c:pt idx="2">
                  <c:v>30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교육장 CO₂·온도·습도 센서로 60분 예측, 이상 탐지, 사용 여부, 환기 경보를 매분 계산해 보드 A에서 상시 운영한 결과 보고서다. 오른쪽은 보드 A 서비스 운영 기록의 실제 출력이다.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기준 20개 중 16개 충족, 보드 A 19.68시간 무중단, 24시간 수집 최저 98.3%, 보드에서 0.22 ms. 서비스와 문서 위치.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과제별 확인 기준을 그대로 옮겨 판정했다. 미시험 1개는 보드 A 수집기 10분 정지 실측이다.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학습은 메모리가 넉넉한 맥, 운영은 보드 A, 측정은 보드 B로 나눴다. 학습과 서비스가 같은 전처리 코드를 쓴다. 모든 결과표에 이 측정 조건이 적용된다.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안내의 평가 기준 다섯 가지에 맞춰 이 보고서의 근거를 정리했다.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1·2.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커버율은 센서별 기대 전송 간격(1·2·10분) 기준이다. 축은 90%부터 그렸다. 재접속·재부팅 시험은 보드 B에서 했다. 보드 A는 재부팅이 금지된 운영 보드다.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결측 원인을 자동으로 나눌 수 있었던 것은 수집기 사건 기록과 fCnt를 함께 저장했기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실습실 CO₂는 수업일 258일 중 256일이 일정을 따랐다. 같은 메시지가 두 번 저장된 기록이 약 11만 건이라 10초 안 중복을 제거했다.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3~6.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 2층 은닉 64, 약 6만 파라미터. 과거 2시간으로 5~60분 12시점의 변화량을 예측한다. 11개 실행 중 검증 기간으로 하나를 골랐다.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음수는 모델이 기준선보다 좋은 구간, 양수는 나쁜 구간이다. 큰 오차는 하루 몇 번의 큰 변화 순간에 몰려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 결과를 본 뒤 같은 기간에서 다시 고르면 시험 점수가 더 이상 공정한 평가가 아니다. 그래서 새 기간을 미리 고정했다.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오토인코더는 정상 구간만 학습했고, 임계값은 검증 기간 복사본에서 헛경보 하루 1회 이하 중 탐지율 최대로 고정했다. 2차 규칙은 1차 결과를 본 뒤 만들었기 때문에 새 씨앗으로 다시 평가했다.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모델이 못 하는 것을 정확히 짚는 것이 이 과제의 핵심이다.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방을 냉난방하는 가장 비싼 오류는 0번이었다. 2차로 임계값 기준을 바꿨지만 0.95에서도 조건(2%)을 만족하지 못해 그대로 남았다. 임계값이 아니라 정답 문제다.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20,065 시점에서 비교했다. 두 기간 모두 GRU, Chronos, 기준선 순서가 같았다. 센서만 쓴 GRU도 30.0 ppm이라, 차이의 대부분은 이 공간 데이터로 학습한 것에서 온다. 로컬 LLM과 8GB를 나눠 써야 해서 정확도 이득 없이 0.7GB를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7·8.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torch 2.14.1+cu130, onnxruntime 1.31.0. 차이는 PyTorch CPU 대비 시험 기간 실데이터 2,000개. FP16은 0.02 ms 이득에 오차만 커졌다. TensorRT는 보드에 없고 sudo 설치가 필요해 미뤘다.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ONNX Runtime CPU 스레드 2, 메모리 상한 1500M. 첫 실측 시도는 4초 만에 다시 켜져 무효였다.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공간·종류 경보는 30분 안이면 한 사건으로 묶었다. 환기 경보는 30분, 초과 예측은 60분 안에 1,000 ppm에 닿으면 맞음이다. 자체 채점 경보 forecast_drift는 회의실에서 잦아 정보 단계로 낮춘다.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 주소 http://100.113.228.46:8080 (tailnet). 왼쪽 그림은 예시 데이터로 그린 화면이다. 공간 객체에는 예측 12시점, 이상 점수·원인, 사용·환기 확률, 경보, 예측이 비면 이유가 들어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서비스는 끝난 5분 칸까지만 쓴다. 값은 5분마다 바뀌지만 끊김 경보는 1분 안에 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2의 일정 변화 뒤 반응 시간, 과제 5의 선제 경보, 과제 8의 5분 칸 배정이 모두 이 결정에 기대고 있다. 보드 시계도 부팅 직후 1970년에서 시작해, 수집기는 시계 동기화를 기다린 뒤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규칙대로 검증으로만 골라 1등을 놓쳤다. 이것이 공정한 평가의 비용이고, 다음 실험의 근거가 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 열림 센서는 문이 움직일 때만 신호를 보내는데, 1분 센서처럼 판정해 가짜 끊김 경보가 났다. 운영 첫 15분 만에 찾아 고쳤다.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숫자는 docs/reports의 과제별 보고서에서 옮겼고, 이 보고서를 위해 새로 측정한 것은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근거는 저장소 docs/reports의 과제별 보고서와 README, 결과 형식은 docs/interface.md.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숫자의 출처.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14884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6908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-넓게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011680"/>
            <a:ext cx="10890504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23360"/>
            <a:ext cx="1089050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1089050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A09D9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15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1488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교육장 공기, 매분 판단합니다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69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시계열 데이터 추론 실습 · 과제 1~8 결과 보고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팀5 jaeung · 2026-10-28 (결과 기준 10-23) · Jetson Orin Nano Super · MAXN SUPER</a:t>
            </a:r>
            <a:endParaRPr lang="en-US" sz="1400" dirty="0"/>
          </a:p>
        </p:txBody>
      </p:sp>
      <p:sp>
        <p:nvSpPr>
          <p:cNvPr id="5" name="code-window"/>
          <p:cNvSpPr/>
          <p:nvPr/>
        </p:nvSpPr>
        <p:spPr>
          <a:xfrm>
            <a:off x="6903720" y="2240280"/>
            <a:ext cx="4636008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</p:sp>
      <p:sp>
        <p:nvSpPr>
          <p:cNvPr id="6" name="code-window-dot"/>
          <p:cNvSpPr/>
          <p:nvPr/>
        </p:nvSpPr>
        <p:spPr>
          <a:xfrm>
            <a:off x="7104888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7" name="code-window-dot"/>
          <p:cNvSpPr/>
          <p:nvPr/>
        </p:nvSpPr>
        <p:spPr>
          <a:xfrm>
            <a:off x="7278624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8" name="code-window-dot"/>
          <p:cNvSpPr/>
          <p:nvPr/>
        </p:nvSpPr>
        <p:spPr>
          <a:xfrm>
            <a:off x="7452360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9" name="code-window-label"/>
          <p:cNvSpPr txBox="1"/>
          <p:nvPr/>
        </p:nvSpPr>
        <p:spPr>
          <a:xfrm>
            <a:off x="7726680" y="233172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A09D96"/>
                </a:solidFill>
              </a:rPr>
              <a:t>보드 A 운영 기록 (실제 출력)</a:t>
            </a:r>
            <a:endParaRPr lang="en-US" sz="1100" dirty="0"/>
          </a:p>
        </p:txBody>
      </p:sp>
      <p:sp>
        <p:nvSpPr>
          <p:cNvPr id="10" name="code-window-text"/>
          <p:cNvSpPr txBox="1"/>
          <p:nvPr/>
        </p:nvSpPr>
        <p:spPr>
          <a:xfrm>
            <a:off x="7159752" y="2679192"/>
            <a:ext cx="4178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./service.sh summary --score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기간  10-22 12:14 ~ 10-23 07:55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D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성공 / 실패  1182 / 0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멈춘 구간 (&gt; 180초)  0회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co2_forecast: 4/4 맞음 (100%)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한눈에 보는 결과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522208" y="38404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522208" y="384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시험 2026-09-23 ~ 10-21 · 실데이터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649224" y="1581912"/>
            <a:ext cx="2551176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923544" y="1810512"/>
            <a:ext cx="2002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확인 기준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AF9F5"/>
                </a:solidFill>
              </a:rPr>
              <a:t>16 / 20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미충족 3 (과제 3·4·5) · 미시험 1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429000" y="1581912"/>
            <a:ext cx="255117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3703320" y="1810512"/>
            <a:ext cx="2002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보드 A 무중단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19.68시간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1,182주기 실패 0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208776" y="1581912"/>
            <a:ext cx="255117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6483096" y="1810512"/>
            <a:ext cx="2002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24시간 수집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98.3%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최저 커버율 · 결측 구간 0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8988552" y="1581912"/>
            <a:ext cx="255117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text"/>
          <p:cNvSpPr txBox="1"/>
          <p:nvPr/>
        </p:nvSpPr>
        <p:spPr>
          <a:xfrm>
            <a:off x="9262872" y="1810512"/>
            <a:ext cx="2002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보드 1회 예측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0.22 ms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ONNX CPU · PyTorch의 46배</a:t>
            </a:r>
            <a:endParaRPr lang="en-US" sz="15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4005072"/>
          <a:ext cx="10890504" cy="914400"/>
        </p:xfrm>
        <a:graphic>
          <a:graphicData uri="http://schemas.openxmlformats.org/drawingml/2006/table">
            <a:tbl>
              <a:tblPr/>
              <a:tblGrid>
                <a:gridCol w="2292738"/>
                <a:gridCol w="8597766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무엇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어디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상시 서비스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보드 A · 조회 API · 대시보드 http://100.113.228.46:8080 (tailnet)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MQTT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aip/team5/jaeung/inference/&lt;공간&gt;/state (retained) · alerts · status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결과 형식 문서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docs/interface.md — 토픽 · 필드 · 단위 · 예시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가장 의외였던 발견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게이트웨이 한 대의 시계가 5분 빠르다 (25쪽)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SCOREBOARD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확인 기준 20개 중 16개를 충족했다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522208" y="38404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522208" y="384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시험 2026-09-23 ~ 10-21 · 실데이터</a:t>
            </a:r>
            <a:endParaRPr lang="en-US" sz="12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1420501"/>
                <a:gridCol w="3906376"/>
                <a:gridCol w="4143127"/>
                <a:gridCol w="1420501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과제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확인 기준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판정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수집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재접속 1분 · 재부팅 복구 · 커버율 95%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15~18초 · 56초 · 최저 98.3%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기준선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같은 조건 비교 · 가장 강한 기준선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현재값 유지 36.3 ppm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예측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60분 CO₂ 30% 감소 · 온도 개선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−13.8% · 온도 −32.6%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탐지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탐지율 80% · 헛경보 1회/일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69%(2차 79%) · 0회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상태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사용 여부 관찰 · 환기 재현율 85%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관찰 0% · 88.0%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6~7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사전학습 비교 · 변환 차이 1 ppm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4가지 근거 · 0.254 ppm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 서비스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12시간 · 정지 경보 · API · 문서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19.68시간 · 미시험 · 동작 · 문서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3/4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649224" y="494487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3"/>
                </a:solidFill>
              </a:rPr>
              <a:t>과제 3의 2차 선택은 미리 고정한 새 시험 기간(10-22 ~ 11-04)으로 11-05 이후 판정한다.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맥이 배우고, 보드 A가 매분 판단한다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2929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맥 · 학습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1년치로 학습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InfluxDB 과거 데이터 전처리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예측 · 이상 · 상태 모델 3개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ONNX로 내보내 보드로 복사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4629912" y="1810512"/>
            <a:ext cx="2929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보드 A · 24시간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운영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수집기: MQTT → SQLite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매분: 같은 전처리 → 판단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API · MQTT · 대시보드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336280" y="1810512"/>
            <a:ext cx="2929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보드 B · 학습 금지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측정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Jetson 속도 · 메모리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시험용 수집기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무거운 작업은 2GB 상한</a:t>
            </a:r>
            <a:endParaRPr lang="en-US" sz="15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3822192"/>
          <a:ext cx="10890504" cy="914400"/>
        </p:xfrm>
        <a:graphic>
          <a:graphicData uri="http://schemas.openxmlformats.org/drawingml/2006/table">
            <a:tbl>
              <a:tblPr/>
              <a:tblGrid>
                <a:gridCol w="2060366"/>
                <a:gridCol w="883013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공통 측정 조건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값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실데이터 — 교육장 InfluxDB iot-bucket + 과제 1 수집기 (합성은 과제 4 고장 주입뿐)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분할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학습 2025-09-03 ~ 2026-08-26 · 검증 ~ 09-23 · 시험 ~ 10-21 (시간 순서)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공정성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정규화는 학습 기간만 · 선택은 검증으로만 · 같은 평가 시점 48,312개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장비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Jetson Orin Nano Super 8GB, JetPack 7.2.1, 전력 모드 MAXN SUPER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평가 기준마다 근거를 남겼다</a:t>
            </a:r>
            <a:endParaRPr lang="en-US" sz="3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2233950"/>
                <a:gridCol w="8656554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영역 (비중)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근거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동작 25%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19.68시간 무중단 · 끊김/계산 실패/범위 밖 값 자동 시험 · 실제 장애 재부팅 2회 자동 복구 (10분 정지 실측은 남음)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성능 25%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확인 기준 20개 중 16개. 못 넘은 3개는 원인과 다음 행동을 숫자로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해석 30%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과제마다 왜 → 그래서. 모델이 못 하는 것(사람이 정하는 순간, 정상 범위의 값 고정)을 명시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공정한 평가 10%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시간 순서 분할, 학습 기간 정규화, 검증으로만 선택. 2차 시험 기간은 결과 전에 고정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재사용성 10%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결과 형식 문서(토픽·필드·단위·예시), retained MQTT, 조회 API, 대시보드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649224" y="417271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3"/>
                </a:solidFill>
              </a:rPr>
              <a:t>시험 결과를 본 뒤 모델이나 임계값을 다시 고르지 않았다. 그래서 못 넘은 기준이 남았고, 대신 이유를 설명한다.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수집과 기준선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과제 1 · 2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1 · COLLECTION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두 보드 모두 24시간 커버율 95%를 넘었다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339328" y="384048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339328" y="3840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10-21 14:30 ~ 10-22 14:35 · 실데이터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4966" y="1581912"/>
          <a:ext cx="4264762" cy="914400"/>
        </p:xfrm>
        <a:graphic>
          <a:graphicData uri="http://schemas.openxmlformats.org/drawingml/2006/table">
            <a:tbl>
              <a:tblPr/>
              <a:tblGrid>
                <a:gridCol w="1705905"/>
                <a:gridCol w="1279428"/>
                <a:gridCol w="127942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보드 A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보드 B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통과 항목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30/30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30/30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결측 구간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재접속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15·18·18초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재부팅 복구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56초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1 · WHY → THEN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빈칸 18개는 모두 '보드 멈춤'이었고, 원인이 자동으로 찍혔다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보드 B가 두 번 멈춤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10-21 18:53, 10-22 09:28 학습 부하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센서 9대가 같은 시간에 함께 빔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사건 기록 → '수집기 쪽' 자동 표시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두 번 다 사람 손 없이 재수집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4629912" y="181051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그래서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운영은 보드 A, 학습 금지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보드 학습을 코드로 거부 (guard.py)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무거운 작업은 메모리 2GB 상한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다른 보드 기록으로 빈 구간 메우기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중복은 deduplicationId로 거름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336280" y="181051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더 본 것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센서 · 운영 환경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2분 센서는 칸 하나가 0.14%p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사무실 CO₂ 배터리 1% → 교체 요청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형식 변경은 설정만 수정 (코드 0줄)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설치 USB가 복구를 막은 적 있음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649224" y="482803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한계: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무선에서 사라진 메시지는 되살릴 수 없다. fCnt 건너뜀으로 '센서·무선 쪽'인지 '수집기 쪽'인지만 가른다.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2 · BASELINE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가장 강한 기준선은 '지금 값 그대로'였다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217152" y="384048"/>
            <a:ext cx="2322576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9217152" y="384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시험 기간 · 같은 평가 시점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"/>
          <p:cNvSpPr txBox="1"/>
          <p:nvPr/>
        </p:nvSpPr>
        <p:spPr>
          <a:xfrm>
            <a:off x="7274966" y="1581912"/>
            <a:ext cx="426476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왜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CO₂는 천천히 변하고, 큰 변화는 하루 몇 번(수업 시작·점심·퇴실)뿐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요일·공휴일이 달라 '어제 같은 시각'이 가장 나쁨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그래서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모든 모델을 같은 평가 시점 20,065개로 비교, 모델은 '변화량'을 예측</a:t>
            </a:r>
            <a:endParaRPr lang="en-US" sz="18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4919472"/>
          <a:ext cx="10890504" cy="914400"/>
        </p:xfrm>
        <a:graphic>
          <a:graphicData uri="http://schemas.openxmlformats.org/drawingml/2006/table">
            <a:tbl>
              <a:tblPr/>
              <a:tblGrid>
                <a:gridCol w="3864372"/>
                <a:gridCol w="1756533"/>
                <a:gridCol w="1756533"/>
                <a:gridCol w="1756533"/>
                <a:gridCol w="1756533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CO₂ MAE (ppm)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5분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15분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30분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60분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현재값 유지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7.3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12.3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22.0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36.3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최근 1시간 평균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18.6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23.2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33.3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46.8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예측 · 탐지 · 상태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과제 3 · 4 · 5 · 6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3 · FORECAST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모든 시점에서 이겼지만, 60분 30% 감소는 못 넘었다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878824" y="384048"/>
            <a:ext cx="2660904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878824" y="384048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GRU · 검증으로 선택 · 시험 1회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4966" y="1581912"/>
          <a:ext cx="4264762" cy="914400"/>
        </p:xfrm>
        <a:graphic>
          <a:graphicData uri="http://schemas.openxmlformats.org/drawingml/2006/table">
            <a:tbl>
              <a:tblPr/>
              <a:tblGrid>
                <a:gridCol w="2532202"/>
                <a:gridCol w="1732559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확인 기준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CO₂ 30% 감소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−13.8%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25.44 이하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온도 개선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−32.6%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시험 미사용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선택 → 시험 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3 · WHY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시험 기간이 조용했고, 사람이 정하는 순간은 센서에 안 보인다</a:t>
            </a:r>
            <a:endParaRPr lang="en-US" sz="32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649224" y="1581912"/>
          <a:ext cx="639714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"/>
          <p:cNvSpPr txBox="1"/>
          <p:nvPr/>
        </p:nvSpPr>
        <p:spPr>
          <a:xfrm>
            <a:off x="7274966" y="1581912"/>
            <a:ext cx="426476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시험 기간 34%가 추석·공휴일 → 기준선 오차가 검증 110에서 시험 36 ppm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같은 모델이 검증에서는 33% 줄였다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수업 시작·창문 개방은 미리 알 수 없다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회의실은 일정표가 없다 (큰 오차 상위 50개 중 39개)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3 · THEN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같은 시험 기간에서 다시 고르지 않고, 새 기간에서 한 번 잰다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2차 선택 (검증으로만)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GRU 9개 평균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씨앗 평균 · 시점별 섞기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검증 71.4 vs 109.5 ppm (−34.8%)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4629912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새 시험 기간 (미리 고정)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10-22 ~ 11-04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10-22에 결과 보기 전 고정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11-05 이후 한 번만 판정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336280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센서 밖 정보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다음 실험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문 열림(WS301) · 냉난방(xflow)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회의 예약 · 수업 인원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649224" y="409651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운영에서는 강한 구간(5~30분, 사무실·회의실)을 쓰고, 서비스가 60분 전 예측을 실제값으로 스스로 채점한다.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4 · ANOMALY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튄 값은 다 잡고, 정상 범위에서 멈춘 값은 못 잡는다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677656" y="384048"/>
            <a:ext cx="2862072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677656" y="38404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시험 기간 복사본에 합성 고장 주입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4966" y="1581912"/>
          <a:ext cx="4264762" cy="914400"/>
        </p:xfrm>
        <a:graphic>
          <a:graphicData uri="http://schemas.openxmlformats.org/drawingml/2006/table">
            <a:tbl>
              <a:tblPr/>
              <a:tblGrid>
                <a:gridCol w="2665476"/>
                <a:gridCol w="1599286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시도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탐지율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1차 (씨앗 22)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69%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2차 (씨앗 33)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79%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2차 (씨앗 22)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69%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헛경보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0회/일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4 · WHY → THEN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값만으로는 구별이 안 되는 고장이 있다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2929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왜 · 습도 값 고정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정상도 몇 시간 멈춘다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'같은 값 19시간' 기준으로는 1~4시간 고정을 못 잡음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2차 짝 비교도 온도까지 그대로인 밤·새벽엔 안 드러남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4629912" y="1810512"/>
            <a:ext cx="2929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왜 · 환기 정지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수업과 모양이 같다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CO₂가 계속 오르는 모양이 '사람이 많은 수업'과 같음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시험 헛경보 0은 조용한 기간 덕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336280" y="1810512"/>
            <a:ext cx="2929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그래서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센서 밖과 비교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센서별 값 고정 판정 · 옆 센서 비교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냉난방 장비(xflow) · 인원 정보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경보는 사건 단위로 묶음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649224" y="427939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시험에서 80%가 되는 임계값은 검증 헛경보가 하루 2.29회라 고를 수 없었다.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5 · STATE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환기 경보는 88%로 통과, 사용 여부는 신중하지만 놓친다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509760" y="384048"/>
            <a:ext cx="2029968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9509760" y="3840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시험 + 10-22 직접 관찰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649224" y="1581912"/>
            <a:ext cx="2551176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923544" y="1810512"/>
            <a:ext cx="20025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환기 선제 경보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400" b="1" dirty="0">
                <a:solidFill>
                  <a:srgbClr val="FAF9F5"/>
                </a:solidFill>
              </a:rPr>
              <a:t>88.0%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30분 안 1,000 ppm 재현율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macro-F1 0.626 &gt; 0.608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429000" y="1581912"/>
            <a:ext cx="2551176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3703320" y="1810512"/>
            <a:ext cx="20025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빈 방 → 사용중 오판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400" b="1" dirty="0">
                <a:solidFill>
                  <a:schemeClr val="tx1"/>
                </a:solidFill>
              </a:rPr>
              <a:t>0%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사용중 1,147칸은 놓침</a:t>
            </a:r>
            <a:endParaRPr lang="en-US" sz="15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08776" y="1581912"/>
          <a:ext cx="5330952" cy="914400"/>
        </p:xfrm>
        <a:graphic>
          <a:graphicData uri="http://schemas.openxmlformats.org/drawingml/2006/table">
            <a:tbl>
              <a:tblPr/>
              <a:tblGrid>
                <a:gridCol w="1938528"/>
                <a:gridCol w="1696212"/>
                <a:gridCol w="1696212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시험 혼동 행렬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예측 빔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예측 사용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실제 빔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6,288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실제 사용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1,147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"/>
          <p:cNvSpPr txBox="1"/>
          <p:nvPr/>
        </p:nvSpPr>
        <p:spPr>
          <a:xfrm>
            <a:off x="649224" y="4279392"/>
            <a:ext cx="10890504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왜: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임계값 0.95(검증 F1 최대)라 확신이 클 때만 '사용중'. CO₂는 출입보다 수십 분 늦게 따라온다.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그래서: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퇴실 뒤 빈 방 관찰 추가, 문 열림·소음 센서로 정답 보강. 환기 경보는 정밀도 16.5%라 '주의' 단계로.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6 · PRETRAINED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범용 모델은 학습 없이도 기준선을 이기지만, 매분 쓰기엔 무겁다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403336" y="384048"/>
            <a:ext cx="3136392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403336" y="384048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정확도: 맥 · 시간/메모리: 보드 B CPU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4264762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2586" y="1581912"/>
          <a:ext cx="6397142" cy="914400"/>
        </p:xfrm>
        <a:graphic>
          <a:graphicData uri="http://schemas.openxmlformats.org/drawingml/2006/table">
            <a:tbl>
              <a:tblPr/>
              <a:tblGrid>
                <a:gridCol w="1985320"/>
                <a:gridCol w="1213251"/>
                <a:gridCol w="1654433"/>
                <a:gridCol w="154413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방법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구간 적중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1회 (p95)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메모리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Chronos tiny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78%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 ms (47)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+213 MB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Chronos small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77%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139 ms (299)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최대 676 MB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GRU · ONNX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0.22 ms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수백 KB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"/>
          <p:cNvSpPr txBox="1"/>
          <p:nvPr/>
        </p:nvSpPr>
        <p:spPr>
          <a:xfrm>
            <a:off x="649224" y="546811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채택: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매분 경로는 GRU. Chronos는 새 공간의 첫 모델 · 불확실성 구간(적중 75~84%) · 두 번째 의견으로만.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Jetson에서 운영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과제 7 · 8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7 ·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가장 빠른 것은 GPU가 아니라 ONNX CPU였다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7516368" y="384048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7516368" y="3840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보드 B · 워밍업 20 · 측정 200 · 클럭 고정 안 함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4966" y="1581912"/>
          <a:ext cx="4264762" cy="914400"/>
        </p:xfrm>
        <a:graphic>
          <a:graphicData uri="http://schemas.openxmlformats.org/drawingml/2006/table">
            <a:tbl>
              <a:tblPr/>
              <a:tblGrid>
                <a:gridCol w="2352972"/>
                <a:gridCol w="191179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방식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CO₂ 최대 차이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GPU FP32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0.012 ppm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GPU FP16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1.022 ppm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ONNX CPU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0.254 ppm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경보 변화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0% (전 방식)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"/>
          <p:cNvSpPr txBox="1"/>
          <p:nvPr/>
        </p:nvSpPr>
        <p:spPr>
          <a:xfrm>
            <a:off x="649224" y="546811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모델이 6만 파라미터로 작아 GPU로 보내는 준비 시간이 계산보다 길다. 운영은 ONNX CPU, GPU는 다음 주 로컬 LLM에 비워 둔다.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8 · SERVICE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보드 A가 19.7시간 동안 한 번도 멈추지 않았다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138160" y="384048"/>
            <a:ext cx="3401568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138160" y="3840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10-22 12:14 ~ 10-23 07:55 · MAXN SUPER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649224" y="1581912"/>
            <a:ext cx="3477768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923544" y="1810512"/>
            <a:ext cx="2929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주기 성공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AF9F5"/>
                </a:solidFill>
              </a:rPr>
              <a:t>1,182 / 1,182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실패 0 · 3분 넘는 멈춤 0회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55592" y="1581912"/>
            <a:ext cx="34777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4629912" y="1810512"/>
            <a:ext cx="2929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1주기 계산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1.30초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p95 1.41초 · 주기 60초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061960" y="1581912"/>
            <a:ext cx="34777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8336280" y="1810512"/>
            <a:ext cx="2929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가장 긴 간격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61초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매분 빠짐없이</a:t>
            </a:r>
            <a:endParaRPr lang="en-US" sz="15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3410712"/>
          <a:ext cx="10890504" cy="914400"/>
        </p:xfrm>
        <a:graphic>
          <a:graphicData uri="http://schemas.openxmlformats.org/drawingml/2006/table">
            <a:tbl>
              <a:tblPr/>
              <a:tblGrid>
                <a:gridCol w="3960183"/>
                <a:gridCol w="5445252"/>
                <a:gridCol w="1485069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확인 기준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판정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12시간 무중단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19.68시간, 1,182주기 실패 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수집기 10분 정지 → 끊김 경보 → 복구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자동 시험 통과, 보드 A 실측 남음 (sudo)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미시험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조회 API로 예측·이상·상태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9개 경로, 운영 중 매분 응답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결과 형식 문서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토픽·필드·단위·예시 (interface.md)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8 · ALERTS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예측 기반 경보는 4/4 맞았고, 분류기 환기 경보는 1/5였다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052560" y="384048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9052560" y="3840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경보 뒤 실제 최대 CO₂로 채점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10890504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"/>
          <p:cNvSpPr txBox="1"/>
          <p:nvPr/>
        </p:nvSpPr>
        <p:spPr>
          <a:xfrm>
            <a:off x="649224" y="537667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그래서: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사람에게 보내는 알림은 예측 기반(co2_forecast)을 기본, 분류기 환기 경보는 '주의' 단계. 틀린 4건도 826~910 ppm까지는 올랐다.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8 · INTERFACE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다른 팀은 API와 MQTT 두 길로 가져다 쓴다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537192" y="384048"/>
            <a:ext cx="2002536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9537192" y="38404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왼쪽 화면: 예시 데이터</a:t>
            </a:r>
            <a:endParaRPr lang="en-US" sz="1200" dirty="0"/>
          </a:p>
        </p:txBody>
      </p:sp>
      <p:pic>
        <p:nvPicPr>
          <p:cNvPr id="6" name="screenshot" descr="/tmp/ccp-870-xr5or4crej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581912"/>
            <a:ext cx="6397142" cy="2650816"/>
          </a:xfrm>
          <a:prstGeom prst="rect">
            <a:avLst/>
          </a:prstGeom>
        </p:spPr>
      </p:pic>
      <p:sp>
        <p:nvSpPr>
          <p:cNvPr id="7" name="screenshot-frame"/>
          <p:cNvSpPr/>
          <p:nvPr/>
        </p:nvSpPr>
        <p:spPr>
          <a:xfrm>
            <a:off x="649224" y="1581912"/>
            <a:ext cx="6397142" cy="2650816"/>
          </a:xfrm>
          <a:prstGeom prst="rect">
            <a:avLst/>
          </a:prstGeom>
          <a:ln w="9525">
            <a:solidFill>
              <a:srgbClr val="E6DFD8"/>
            </a:solidFill>
            <a:prstDash val="solid"/>
          </a:ln>
        </p:spPr>
      </p:sp>
      <p:sp>
        <p:nvSpPr>
          <p:cNvPr id="8" name="code-window"/>
          <p:cNvSpPr/>
          <p:nvPr/>
        </p:nvSpPr>
        <p:spPr>
          <a:xfrm>
            <a:off x="7274966" y="1581912"/>
            <a:ext cx="4264762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9" name="code-window-dot"/>
          <p:cNvSpPr/>
          <p:nvPr/>
        </p:nvSpPr>
        <p:spPr>
          <a:xfrm>
            <a:off x="7476134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10" name="code-window-dot"/>
          <p:cNvSpPr/>
          <p:nvPr/>
        </p:nvSpPr>
        <p:spPr>
          <a:xfrm>
            <a:off x="7649870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11" name="code-window-dot"/>
          <p:cNvSpPr/>
          <p:nvPr/>
        </p:nvSpPr>
        <p:spPr>
          <a:xfrm>
            <a:off x="7823606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12" name="code-window-label"/>
          <p:cNvSpPr txBox="1"/>
          <p:nvPr/>
        </p:nvSpPr>
        <p:spPr>
          <a:xfrm>
            <a:off x="8097926" y="1673352"/>
            <a:ext cx="325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A09D96"/>
                </a:solidFill>
              </a:rPr>
              <a:t>조회 API · 보드 A :8080</a:t>
            </a:r>
            <a:endParaRPr lang="en-US" sz="1100" dirty="0"/>
          </a:p>
        </p:txBody>
      </p:sp>
      <p:sp>
        <p:nvSpPr>
          <p:cNvPr id="13" name="code-window-text"/>
          <p:cNvSpPr txBox="1"/>
          <p:nvPr/>
        </p:nvSpPr>
        <p:spPr>
          <a:xfrm>
            <a:off x="7530998" y="2020824"/>
            <a:ext cx="380756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/health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/v1/spaces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/v1/spaces/meeting/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forecast?minutes=30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/v1/spaces/&lt;slug&gt;/state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/v1/alerts · /v1/sensors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MQTT …/inference/&lt;slug&gt;/state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retained · alerts · status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649224" y="482803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새로 접속한 구독자도 retained로 최신값을 바로 받는다. 같은 경보는 처음·30분마다·해제 때만 보낸다. 형식 전체는 docs/interface.md.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8 · ROBUSTNESS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학습과 같은 전처리를 쓰고, 장애가 나도 멈추지 않는다</a:t>
            </a:r>
            <a:endParaRPr lang="en-US" sz="32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5330952" cy="914400"/>
        </p:xfrm>
        <a:graphic>
          <a:graphicData uri="http://schemas.openxmlformats.org/drawingml/2006/table">
            <a:tbl>
              <a:tblPr/>
              <a:tblGrid>
                <a:gridCol w="1950348"/>
                <a:gridCol w="3380604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상황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동작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센서 일부 끊김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남은 센서로 계속, sensor_gap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공간 전체 끊김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예측을 비움, data_gap → cleared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계산 한 번 실패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기록 · degraded · 다음 주기 정상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종료 · 재부팅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systemd 자동 시작, LWT offline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08776" y="1581912"/>
          <a:ext cx="5330952" cy="914400"/>
        </p:xfrm>
        <a:graphic>
          <a:graphicData uri="http://schemas.openxmlformats.org/drawingml/2006/table">
            <a:tbl>
              <a:tblPr/>
              <a:tblGrid>
                <a:gridCol w="2340418"/>
                <a:gridCol w="2990534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전처리가 다르면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생기는 일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정규화를 다시 계산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같은 900 ppm이 다른 입력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막 시작된 5분 칸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측정 1~2개로 값이 튐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중복 제거 누락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중앙값이 한쪽으로 쏠림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게이트웨이 시각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5분 빠른 칸에 들어감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649224" y="378663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서비스는 학습 코드와 같은 파일의 같은 함수, 학습 기간 정규화 값을 쓴다. 다르면 오류 없이 그럴듯하게 틀린 숫자가 나온다.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발견과 다음 할 일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가장 의외였던 발견 · 한계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MOST SURPRISING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게이트웨이 한 대의 시계가 5분 빠르다</a:t>
            </a:r>
            <a:endParaRPr lang="en-US" sz="3200" dirty="0"/>
          </a:p>
        </p:txBody>
      </p:sp>
      <p:sp>
        <p:nvSpPr>
          <p:cNvPr id="4" name="code-window"/>
          <p:cNvSpPr/>
          <p:nvPr/>
        </p:nvSpPr>
        <p:spPr>
          <a:xfrm>
            <a:off x="649224" y="1581912"/>
            <a:ext cx="6397142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5" name="code-window-dot"/>
          <p:cNvSpPr/>
          <p:nvPr/>
        </p:nvSpPr>
        <p:spPr>
          <a:xfrm>
            <a:off x="850392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6" name="code-window-dot"/>
          <p:cNvSpPr/>
          <p:nvPr/>
        </p:nvSpPr>
        <p:spPr>
          <a:xfrm>
            <a:off x="1024128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7" name="code-window-dot"/>
          <p:cNvSpPr/>
          <p:nvPr/>
        </p:nvSpPr>
        <p:spPr>
          <a:xfrm>
            <a:off x="1197864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8" name="code-window-label"/>
          <p:cNvSpPr txBox="1"/>
          <p:nvPr/>
        </p:nvSpPr>
        <p:spPr>
          <a:xfrm>
            <a:off x="1472184" y="1673352"/>
            <a:ext cx="539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A09D96"/>
                </a:solidFill>
              </a:rPr>
              <a:t>같은 메시지 안의 두 시각 (ChirpStack 업링크)</a:t>
            </a:r>
            <a:endParaRPr lang="en-US" sz="1100" dirty="0"/>
          </a:p>
        </p:txBody>
      </p:sp>
      <p:sp>
        <p:nvSpPr>
          <p:cNvPr id="9" name="code-window-text"/>
          <p:cNvSpPr txBox="1"/>
          <p:nvPr/>
        </p:nvSpPr>
        <p:spPr>
          <a:xfrm>
            <a:off x="905256" y="2020824"/>
            <a:ext cx="593994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806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"time":   "…T00:36:20.731Z"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↑ 게이트웨이 24e124fffef5dccc 시계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"nsTime": "…T00:31:25.297Z"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↑ 네트워크 서버 시계 (기준)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메시지 순서대로 time을 보면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08:05 → 08:01 → 08:06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7274966" y="1581912"/>
            <a:ext cx="426476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7549286" y="1810512"/>
            <a:ext cx="371612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24시간 메시지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4000" b="1" dirty="0">
                <a:solidFill>
                  <a:schemeClr val="tx1"/>
                </a:solidFill>
              </a:rPr>
              <a:t>46%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12,671건 중 5,789건이 60초 넘게 어긋남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→ 기준 시각을 nsTime으로</a:t>
            </a:r>
            <a:endParaRPr lang="en-US" sz="1500" dirty="0"/>
          </a:p>
        </p:txBody>
      </p:sp>
      <p:sp>
        <p:nvSpPr>
          <p:cNvPr id="12" name="callout-coral"/>
          <p:cNvSpPr/>
          <p:nvPr/>
        </p:nvSpPr>
        <p:spPr>
          <a:xfrm>
            <a:off x="649224" y="4828032"/>
            <a:ext cx="10890504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13" name="text"/>
          <p:cNvSpPr txBox="1"/>
          <p:nvPr/>
        </p:nvSpPr>
        <p:spPr>
          <a:xfrm>
            <a:off x="1014984" y="4828032"/>
            <a:ext cx="10158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메시지 시각을 그대로 썼다면 모든 반응 시간 분석이 5분씩 틀렸다.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ALSO SURPRISING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검증에서 꼴찌였던 모델이 시험에서 1등이었다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363456" y="384048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9363456" y="3840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GRU 변형별 씨앗 3개 평균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533095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" descr=""/>
          <p:cNvGraphicFramePr/>
          <p:nvPr/>
        </p:nvGraphicFramePr>
        <p:xfrm>
          <a:off x="6208776" y="1581912"/>
          <a:ext cx="533095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"/>
          <p:cNvSpPr txBox="1"/>
          <p:nvPr/>
        </p:nvSpPr>
        <p:spPr>
          <a:xfrm>
            <a:off x="649224" y="4919472"/>
            <a:ext cx="10890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검증 기간(개강 직후)이 시험 기간(연휴)보다 3배 더 출렁였다. 기간 하나로 고르면 운에 맡기는 것 → 여러 기간으로 교차 검증하고, 운영 중에는 스스로 채점한다.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LESSONS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운영하며 겪은 일은 코드보다 환경에서 많이 나왔다</a:t>
            </a:r>
            <a:endParaRPr lang="en-US" sz="32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1968163"/>
                <a:gridCol w="4461170"/>
                <a:gridCol w="446117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언제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무슨 일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조치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10-21, 10-22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보드 B가 학습 부하로 두 번 멈춤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보드 학습 금지 + 코드 거부, 메모리 상한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10-21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설치 USB 때문에 설치 화면으로 부팅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팀 규칙으로 남김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10-22 09:01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보드 A에 torch가 없어 서비스 종료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torch 없이 도는지 시험 추가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10-22 09:49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문 열림 센서를 '끊김'으로 오판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CO₂·온도·습도 센서만 판정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10-22 12:14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10분 정지에 경보가 안 나는 기준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5분 기준 + 수집 전체 조용함 판정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LIMITS · NEXT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모델이 못 하는 것과 다음 할 일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29291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모델이 못 하는 것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센서에 안 보이는 것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사람이 정하는 순간 (수업·창문)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정상 범위 안에서 멈춘 값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사람이 많은 것 vs 환기 고장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출입 직후 사용 여부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4629912" y="1810512"/>
            <a:ext cx="29291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다음 할 일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남은 확인 기준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보드 A 수집기 10분 정지 실측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퇴실 뒤 빈 방 직접 관찰 (과제 5)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11-05 이후 과제 3 2차 판정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A09D96"/>
                </a:solidFill>
              </a:rPr>
              <a:t>센서별 값 고정 판정 (과제 4)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336280" y="1810512"/>
            <a:ext cx="29291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다음 단계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센서 밖 정보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문 열림 · 소음 센서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냉난방 xflow · 회의 예약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D3D3A"/>
                </a:solidFill>
              </a:rPr>
              <a:t>LLM 도구용 예측 구간 · 근거 숫자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정리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649224" y="1581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수집</a:t>
            </a:r>
            <a:endParaRPr lang="en-US" sz="2000" dirty="0"/>
          </a:p>
        </p:txBody>
      </p:sp>
      <p:sp>
        <p:nvSpPr>
          <p:cNvPr id="4" name="text"/>
          <p:cNvSpPr txBox="1"/>
          <p:nvPr/>
        </p:nvSpPr>
        <p:spPr>
          <a:xfrm>
            <a:off x="2935224" y="1581912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두 보드 모두 커버율 95% 이상, 결측 원인 자동 표시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649224" y="2203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예측</a:t>
            </a:r>
            <a:endParaRPr lang="en-US" sz="2000" dirty="0"/>
          </a:p>
        </p:txBody>
      </p:sp>
      <p:sp>
        <p:nvSpPr>
          <p:cNvPr id="6" name="text"/>
          <p:cNvSpPr txBox="1"/>
          <p:nvPr/>
        </p:nvSpPr>
        <p:spPr>
          <a:xfrm>
            <a:off x="2935224" y="2203704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기준선보다 14%, 목표 30% 미달 → 새 기간에서 2차 판정</a:t>
            </a:r>
            <a:endParaRPr lang="en-US" sz="2000" dirty="0"/>
          </a:p>
        </p:txBody>
      </p:sp>
      <p:sp>
        <p:nvSpPr>
          <p:cNvPr id="7" name="text"/>
          <p:cNvSpPr txBox="1"/>
          <p:nvPr/>
        </p:nvSpPr>
        <p:spPr>
          <a:xfrm>
            <a:off x="649224" y="2825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탐지 · 상태</a:t>
            </a:r>
            <a:endParaRPr lang="en-US" sz="2000" dirty="0"/>
          </a:p>
        </p:txBody>
      </p:sp>
      <p:sp>
        <p:nvSpPr>
          <p:cNvPr id="8" name="text"/>
          <p:cNvSpPr txBox="1"/>
          <p:nvPr/>
        </p:nvSpPr>
        <p:spPr>
          <a:xfrm>
            <a:off x="2935224" y="2825496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멈춘 값·환기 고장은 값만으로 못 가림, 환기 경보 88%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649224" y="3447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엣지</a:t>
            </a:r>
            <a:endParaRPr lang="en-US" sz="2000" dirty="0"/>
          </a:p>
        </p:txBody>
      </p:sp>
      <p:sp>
        <p:nvSpPr>
          <p:cNvPr id="10" name="text"/>
          <p:cNvSpPr txBox="1"/>
          <p:nvPr/>
        </p:nvSpPr>
        <p:spPr>
          <a:xfrm>
            <a:off x="2935224" y="3447288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ONNX CPU 0.22 ms, GPU보다 빠름</a:t>
            </a:r>
            <a:endParaRPr lang="en-US" sz="2000" dirty="0"/>
          </a:p>
        </p:txBody>
      </p:sp>
      <p:sp>
        <p:nvSpPr>
          <p:cNvPr id="11" name="text"/>
          <p:cNvSpPr txBox="1"/>
          <p:nvPr/>
        </p:nvSpPr>
        <p:spPr>
          <a:xfrm>
            <a:off x="649224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운영</a:t>
            </a:r>
            <a:endParaRPr lang="en-US" sz="2000" dirty="0"/>
          </a:p>
        </p:txBody>
      </p:sp>
      <p:sp>
        <p:nvSpPr>
          <p:cNvPr id="12" name="text"/>
          <p:cNvSpPr txBox="1"/>
          <p:nvPr/>
        </p:nvSpPr>
        <p:spPr>
          <a:xfrm>
            <a:off x="2935224" y="4069080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19.7시간 무중단, API · MQTT · 대시보드 · 형식 문서</a:t>
            </a:r>
            <a:endParaRPr lang="en-US" sz="2000" dirty="0"/>
          </a:p>
        </p:txBody>
      </p:sp>
      <p:sp>
        <p:nvSpPr>
          <p:cNvPr id="13" name="text"/>
          <p:cNvSpPr txBox="1"/>
          <p:nvPr/>
        </p:nvSpPr>
        <p:spPr>
          <a:xfrm>
            <a:off x="649224" y="4690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발견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2935224" y="4690872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게이트웨이 시계 5분 → 기준 시각은 nsTime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과제별 상세 근거 문서</a:t>
            </a:r>
            <a:endParaRPr lang="en-US" sz="32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1815084"/>
                <a:gridCol w="907542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과제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문서 (docs/reports/)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001-findings · 001-collection-status(-b) · 001-failure-tests · 001-format-change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002-diagnosis · 002-baselines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003-forecast · 003-model-comparison · 003-test-log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004-anomaly · 004-detection(-seed22)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005-state · 005-classification · 005-observation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 · 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006-pretrained · 006-comparison · 007-edge · 007-comparison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008-service · 008-service-log · ../interface.md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m Coral">
  <a:themeElements>
    <a:clrScheme name="Cream Coral">
      <a:dk1>
        <a:srgbClr val="141413"/>
      </a:dk1>
      <a:lt1>
        <a:srgbClr val="FAF9F5"/>
      </a:lt1>
      <a:dk2>
        <a:srgbClr val="181715"/>
      </a:dk2>
      <a:lt2>
        <a:srgbClr val="EFE9DE"/>
      </a:lt2>
      <a:accent1>
        <a:srgbClr val="CC785C"/>
      </a:accent1>
      <a:accent2>
        <a:srgbClr val="A9583E"/>
      </a:accent2>
      <a:accent3>
        <a:srgbClr val="6C6A64"/>
      </a:accent3>
      <a:accent4>
        <a:srgbClr val="E8A55A"/>
      </a:accent4>
      <a:accent5>
        <a:srgbClr val="5DB8A6"/>
      </a:accent5>
      <a:accent6>
        <a:srgbClr val="C64545"/>
      </a:accent6>
      <a:hlink>
        <a:srgbClr val="A9583E"/>
      </a:hlink>
      <a:folHlink>
        <a:srgbClr val="6C6A64"/>
      </a:folHlink>
    </a:clrScheme>
    <a:fontScheme name="Cream Coral">
      <a:majorFont>
        <a:latin typeface="Pretendard"/>
        <a:ea typeface="Pretendard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SemiBold"/>
        <a:ea typeface="Pretendard SemiBold"/>
        <a:cs typeface=""/>
        <a:font script="Jpan" typeface="游ゴシック"/>
        <a:font script="Hang" typeface="Pretendard SemiBol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교육장 공기 상태 예측·탐지 서비스 — 과제 1~8 결과 보고</dc:title>
  <dc:subject>PptxGenJS Presentation</dc:subject>
  <dc:creator>팀5 jaeung</dc:creator>
  <cp:lastModifiedBy>팀5 jaeung</cp:lastModifiedBy>
  <cp:revision>1</cp:revision>
  <dcterms:created xsi:type="dcterms:W3CDTF">2026-10-28T06:59:25Z</dcterms:created>
  <dcterms:modified xsi:type="dcterms:W3CDTF">2026-10-28T06:59:25Z</dcterms:modified>
</cp:coreProperties>
</file>